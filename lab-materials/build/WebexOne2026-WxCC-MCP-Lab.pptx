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237" r:id="rId4"/>
  </p:sldMasterIdLst>
  <p:notesMasterIdLst>
    <p:notesMasterId r:id="rId64"/>
  </p:notesMasterIdLst>
  <p:sldIdLst>
    <p:sldId id="256" r:id="rId36"/>
    <p:sldId id="257" r:id="rId37"/>
    <p:sldId id="258" r:id="rId38"/>
    <p:sldId id="259" r:id="rId39"/>
    <p:sldId id="260" r:id="rId40"/>
    <p:sldId id="261" r:id="rId41"/>
    <p:sldId id="262" r:id="rId42"/>
    <p:sldId id="263" r:id="rId43"/>
    <p:sldId id="264" r:id="rId44"/>
    <p:sldId id="265" r:id="rId45"/>
    <p:sldId id="266" r:id="rId46"/>
    <p:sldId id="267" r:id="rId47"/>
    <p:sldId id="268" r:id="rId48"/>
    <p:sldId id="269" r:id="rId49"/>
    <p:sldId id="270" r:id="rId50"/>
    <p:sldId id="271" r:id="rId51"/>
    <p:sldId id="272" r:id="rId52"/>
    <p:sldId id="273" r:id="rId53"/>
    <p:sldId id="274" r:id="rId54"/>
    <p:sldId id="275" r:id="rId55"/>
    <p:sldId id="276" r:id="rId56"/>
    <p:sldId id="277" r:id="rId57"/>
    <p:sldId id="278" r:id="rId58"/>
    <p:sldId id="279" r:id="rId59"/>
    <p:sldId id="280" r:id="rId60"/>
    <p:sldId id="281" r:id="rId61"/>
  </p:sldIdLst>
  <p:sldSz cx="12192000" cy="6858000"/>
  <p:notesSz cx="6858000" cy="9144000"/>
  <p:embeddedFontLst>
    <p:embeddedFont>
      <p:font typeface="CiscoSansTT" panose="020B0503020201020303" pitchFamily="34" charset="0"/>
      <p:regular r:id="rId65"/>
      <p:bold r:id="rId66"/>
      <p:italic r:id="rId67"/>
      <p:boldItalic r:id="rId68"/>
    </p:embeddedFont>
    <p:embeddedFont>
      <p:font typeface="CiscoSansTT ExtraLight" panose="020B0303020201020303" pitchFamily="34" charset="0"/>
      <p:regular r:id="rId69"/>
      <p:italic r:id="rId70"/>
    </p:embeddedFont>
    <p:embeddedFont>
      <p:font typeface="CiscoSansTT Light" panose="020B0503020201020303" pitchFamily="34" charset="0"/>
      <p:regular r:id="rId71"/>
      <p:italic r:id="rId72"/>
    </p:embeddedFont>
    <p:embeddedFont>
      <p:font typeface="Helvetica" pitchFamily="2" charset="0"/>
      <p:regular r:id="rId73"/>
      <p:bold r:id="rId74"/>
      <p:italic r:id="rId75"/>
      <p:boldItalic r:id="rId76"/>
    </p:embeddedFont>
    <p:embeddedFont>
      <p:font typeface="Inter" panose="02000503000000020004" pitchFamily="2" charset="0"/>
      <p:regular r:id="rId77"/>
      <p:bold r:id="rId78"/>
      <p:italic r:id="rId79"/>
      <p:boldItalic r:id="rId80"/>
    </p:embeddedFont>
    <p:embeddedFont>
      <p:font typeface="Inter Light" panose="02000403000000020004" pitchFamily="2" charset="0"/>
      <p:regular r:id="rId81"/>
      <p:italic r:id="rId82"/>
    </p:embeddedFont>
    <p:embeddedFont>
      <p:font typeface="Inter Medium" panose="02000503000000020004" pitchFamily="2" charset="0"/>
      <p:regular r:id="rId83"/>
      <p:italic r:id="rId84"/>
    </p:embeddedFont>
    <p:embeddedFont>
      <p:font typeface="Inter Semi Bold" panose="02000503000000020004" pitchFamily="2" charset="0"/>
      <p:regular r:id="rId85"/>
      <p:bold r:id="rId86"/>
      <p:italic r:id="rId87"/>
      <p:boldItalic r:id="rId88"/>
    </p:embeddedFont>
    <p:embeddedFont>
      <p:font typeface="MS PGothic" panose="020B0600070205080204" pitchFamily="34" charset="-128"/>
      <p:regular r:id="rId8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bexOne 2026 PowerPoint Light Template" id="{5885CD09-E5F4-40A1-B261-A4CD8C7D6290}">
          <p14:sldIdLst>
            <p14:sldId id="256"/>
            <p14:sldId id="2147482598"/>
            <p14:sldId id="2147482600"/>
          </p14:sldIdLst>
        </p14:section>
        <p14:section name="About the templates" id="{E2E77393-D283-4E8B-99DA-7516125BB0CE}">
          <p14:sldIdLst>
            <p14:sldId id="2147482571"/>
            <p14:sldId id="2147482572"/>
            <p14:sldId id="2147482570"/>
            <p14:sldId id="2147482567"/>
            <p14:sldId id="2147482640"/>
            <p14:sldId id="2147482653"/>
            <p14:sldId id="2147482654"/>
            <p14:sldId id="2147482618"/>
            <p14:sldId id="2147482658"/>
            <p14:sldId id="2147482573"/>
            <p14:sldId id="2147482615"/>
          </p14:sldIdLst>
        </p14:section>
        <p14:section name="Promo Slides" id="{A717AA93-501B-4EAE-A76D-10CF7C8B99E0}">
          <p14:sldIdLst>
            <p14:sldId id="2147482601"/>
            <p14:sldId id="2147482602"/>
            <p14:sldId id="2147482603"/>
            <p14:sldId id="2147482604"/>
          </p14:sldIdLst>
        </p14:section>
        <p14:section name="Template Slides" id="{C1BCE04F-6A4B-4D61-8F5F-B258FADF4936}">
          <p14:sldIdLst>
            <p14:sldId id="2147482574"/>
            <p14:sldId id="2147482635"/>
            <p14:sldId id="2147482644"/>
            <p14:sldId id="2147482645"/>
            <p14:sldId id="2147482655"/>
            <p14:sldId id="2147482656"/>
            <p14:sldId id="2147482630"/>
            <p14:sldId id="2147482577"/>
            <p14:sldId id="2147482578"/>
            <p14:sldId id="2147482616"/>
            <p14:sldId id="2147482657"/>
            <p14:sldId id="2147482659"/>
            <p14:sldId id="2147482650"/>
            <p14:sldId id="2147482613"/>
            <p14:sldId id="2147482624"/>
            <p14:sldId id="2147482608"/>
            <p14:sldId id="2147482609"/>
            <p14:sldId id="2147482610"/>
            <p14:sldId id="2147482611"/>
            <p14:sldId id="2147482612"/>
            <p14:sldId id="2147482625"/>
            <p14:sldId id="2147482627"/>
            <p14:sldId id="2147482620"/>
            <p14:sldId id="2147482621"/>
          </p14:sldIdLst>
        </p14:section>
        <p14:section name="Section Slides" id="{5E1F1D9B-F022-45ED-A813-8E2898F21F12}">
          <p14:sldIdLst>
            <p14:sldId id="2147482584"/>
            <p14:sldId id="2147482580"/>
          </p14:sldIdLst>
        </p14:section>
        <p14:section name="Resources" id="{81B83DB4-231E-477D-A7CC-2EEADDFBC705}">
          <p14:sldIdLst>
            <p14:sldId id="2147482583"/>
            <p14:sldId id="2147482585"/>
            <p14:sldId id="2147482586"/>
            <p14:sldId id="2147482587"/>
            <p14:sldId id="2147482588"/>
            <p14:sldId id="2147482589"/>
            <p14:sldId id="2147482590"/>
            <p14:sldId id="2147482591"/>
            <p14:sldId id="2147482592"/>
            <p14:sldId id="2147482593"/>
            <p14:sldId id="2147482594"/>
            <p14:sldId id="2147482595"/>
            <p14:sldId id="2147482596"/>
            <p14:sldId id="2147482597"/>
            <p14:sldId id="2147482581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9DE2"/>
    <a:srgbClr val="7F7F7F"/>
    <a:srgbClr val="EB4651"/>
    <a:srgbClr val="07182D"/>
    <a:srgbClr val="45991F"/>
    <a:srgbClr val="16BDEB"/>
    <a:srgbClr val="6A7481"/>
    <a:srgbClr val="525E6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36" Type="http://schemas.openxmlformats.org/officeDocument/2006/relationships/slide" Target="slides/slide1.xml"/><Relationship Id="rId37" Type="http://schemas.openxmlformats.org/officeDocument/2006/relationships/slide" Target="slides/slide2.xml"/><Relationship Id="rId38" Type="http://schemas.openxmlformats.org/officeDocument/2006/relationships/slide" Target="slides/slide3.xml"/><Relationship Id="rId39" Type="http://schemas.openxmlformats.org/officeDocument/2006/relationships/slide" Target="slides/slide4.xml"/><Relationship Id="rId40" Type="http://schemas.openxmlformats.org/officeDocument/2006/relationships/slide" Target="slides/slide5.xml"/><Relationship Id="rId41" Type="http://schemas.openxmlformats.org/officeDocument/2006/relationships/slide" Target="slides/slide6.xml"/><Relationship Id="rId42" Type="http://schemas.openxmlformats.org/officeDocument/2006/relationships/slide" Target="slides/slide7.xml"/><Relationship Id="rId43" Type="http://schemas.openxmlformats.org/officeDocument/2006/relationships/slide" Target="slides/slide8.xml"/><Relationship Id="rId44" Type="http://schemas.openxmlformats.org/officeDocument/2006/relationships/slide" Target="slides/slide9.xml"/><Relationship Id="rId45" Type="http://schemas.openxmlformats.org/officeDocument/2006/relationships/slide" Target="slides/slide10.xml"/><Relationship Id="rId46" Type="http://schemas.openxmlformats.org/officeDocument/2006/relationships/slide" Target="slides/slide11.xml"/><Relationship Id="rId47" Type="http://schemas.openxmlformats.org/officeDocument/2006/relationships/slide" Target="slides/slide12.xml"/><Relationship Id="rId48" Type="http://schemas.openxmlformats.org/officeDocument/2006/relationships/slide" Target="slides/slide13.xml"/><Relationship Id="rId49" Type="http://schemas.openxmlformats.org/officeDocument/2006/relationships/slide" Target="slides/slide14.xml"/><Relationship Id="rId50" Type="http://schemas.openxmlformats.org/officeDocument/2006/relationships/slide" Target="slides/slide15.xml"/><Relationship Id="rId51" Type="http://schemas.openxmlformats.org/officeDocument/2006/relationships/slide" Target="slides/slide16.xml"/><Relationship Id="rId52" Type="http://schemas.openxmlformats.org/officeDocument/2006/relationships/slide" Target="slides/slide17.xml"/><Relationship Id="rId53" Type="http://schemas.openxmlformats.org/officeDocument/2006/relationships/slide" Target="slides/slide18.xml"/><Relationship Id="rId54" Type="http://schemas.openxmlformats.org/officeDocument/2006/relationships/slide" Target="slides/slide19.xml"/><Relationship Id="rId55" Type="http://schemas.openxmlformats.org/officeDocument/2006/relationships/slide" Target="slides/slide20.xml"/><Relationship Id="rId56" Type="http://schemas.openxmlformats.org/officeDocument/2006/relationships/slide" Target="slides/slide21.xml"/><Relationship Id="rId57" Type="http://schemas.openxmlformats.org/officeDocument/2006/relationships/slide" Target="slides/slide22.xml"/><Relationship Id="rId58" Type="http://schemas.openxmlformats.org/officeDocument/2006/relationships/slide" Target="slides/slide23.xml"/><Relationship Id="rId59" Type="http://schemas.openxmlformats.org/officeDocument/2006/relationships/slide" Target="slides/slide24.xml"/><Relationship Id="rId60" Type="http://schemas.openxmlformats.org/officeDocument/2006/relationships/slide" Target="slides/slide25.xml"/><Relationship Id="rId61" Type="http://schemas.openxmlformats.org/officeDocument/2006/relationships/slide" Target="slides/slide26.xml"/><Relationship Id="rId64" Type="http://schemas.openxmlformats.org/officeDocument/2006/relationships/notesMaster" Target="notesMasters/notesMaster1.xml"/><Relationship Id="rId65" Type="http://schemas.openxmlformats.org/officeDocument/2006/relationships/font" Target="fonts/font1.fntdata"/><Relationship Id="rId66" Type="http://schemas.openxmlformats.org/officeDocument/2006/relationships/font" Target="fonts/font2.fntdata"/><Relationship Id="rId67" Type="http://schemas.openxmlformats.org/officeDocument/2006/relationships/font" Target="fonts/font3.fntdata"/><Relationship Id="rId68" Type="http://schemas.openxmlformats.org/officeDocument/2006/relationships/font" Target="fonts/font4.fntdata"/><Relationship Id="rId69" Type="http://schemas.openxmlformats.org/officeDocument/2006/relationships/font" Target="fonts/font5.fntdata"/><Relationship Id="rId70" Type="http://schemas.openxmlformats.org/officeDocument/2006/relationships/font" Target="fonts/font6.fntdata"/><Relationship Id="rId71" Type="http://schemas.openxmlformats.org/officeDocument/2006/relationships/font" Target="fonts/font7.fntdata"/><Relationship Id="rId72" Type="http://schemas.openxmlformats.org/officeDocument/2006/relationships/font" Target="fonts/font8.fntdata"/><Relationship Id="rId73" Type="http://schemas.openxmlformats.org/officeDocument/2006/relationships/font" Target="fonts/font9.fntdata"/><Relationship Id="rId74" Type="http://schemas.openxmlformats.org/officeDocument/2006/relationships/font" Target="fonts/font10.fntdata"/><Relationship Id="rId75" Type="http://schemas.openxmlformats.org/officeDocument/2006/relationships/font" Target="fonts/font11.fntdata"/><Relationship Id="rId76" Type="http://schemas.openxmlformats.org/officeDocument/2006/relationships/font" Target="fonts/font12.fntdata"/><Relationship Id="rId77" Type="http://schemas.openxmlformats.org/officeDocument/2006/relationships/font" Target="fonts/font13.fntdata"/><Relationship Id="rId78" Type="http://schemas.openxmlformats.org/officeDocument/2006/relationships/font" Target="fonts/font14.fntdata"/><Relationship Id="rId79" Type="http://schemas.openxmlformats.org/officeDocument/2006/relationships/font" Target="fonts/font15.fntdata"/><Relationship Id="rId80" Type="http://schemas.openxmlformats.org/officeDocument/2006/relationships/font" Target="fonts/font16.fntdata"/><Relationship Id="rId81" Type="http://schemas.openxmlformats.org/officeDocument/2006/relationships/font" Target="fonts/font17.fntdata"/><Relationship Id="rId82" Type="http://schemas.openxmlformats.org/officeDocument/2006/relationships/font" Target="fonts/font18.fntdata"/><Relationship Id="rId83" Type="http://schemas.openxmlformats.org/officeDocument/2006/relationships/font" Target="fonts/font19.fntdata"/><Relationship Id="rId84" Type="http://schemas.openxmlformats.org/officeDocument/2006/relationships/font" Target="fonts/font20.fntdata"/><Relationship Id="rId85" Type="http://schemas.openxmlformats.org/officeDocument/2006/relationships/font" Target="fonts/font21.fntdata"/><Relationship Id="rId86" Type="http://schemas.openxmlformats.org/officeDocument/2006/relationships/font" Target="fonts/font22.fntdata"/><Relationship Id="rId87" Type="http://schemas.openxmlformats.org/officeDocument/2006/relationships/font" Target="fonts/font23.fntdata"/><Relationship Id="rId88" Type="http://schemas.openxmlformats.org/officeDocument/2006/relationships/font" Target="fonts/font24.fntdata"/><Relationship Id="rId89" Type="http://schemas.openxmlformats.org/officeDocument/2006/relationships/font" Target="fonts/font25.fntdata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Relationship Id="rId94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074E5E-9251-F0EA-2BB9-CE195548D6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7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bexOne 2026 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533525"/>
            <a:ext cx="8119872" cy="1593855"/>
          </a:xfrm>
        </p:spPr>
        <p:txBody>
          <a:bodyPr anchor="b" anchorCtr="0"/>
          <a:lstStyle>
            <a:lvl1pPr>
              <a:defRPr sz="4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" y="3133725"/>
            <a:ext cx="8119872" cy="246221"/>
          </a:xfrm>
          <a:noFill/>
        </p:spPr>
        <p:txBody>
          <a:bodyPr>
            <a:spAutoFit/>
          </a:bodyPr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965575"/>
            <a:ext cx="3593592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4571" y="3965575"/>
            <a:ext cx="3593592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309360"/>
            <a:ext cx="4357688" cy="54864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BE50A-FC3C-8632-8507-5D2E162AF5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" y="513994"/>
            <a:ext cx="2981499" cy="4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06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bexOne 2026 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579557"/>
            <a:ext cx="8119872" cy="1554169"/>
          </a:xfrm>
        </p:spPr>
        <p:txBody>
          <a:bodyPr anchor="b" anchorCtr="0"/>
          <a:lstStyle>
            <a:lvl1pPr>
              <a:defRPr sz="4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3133726"/>
            <a:ext cx="8119872" cy="276999"/>
          </a:xfrm>
          <a:noFill/>
        </p:spPr>
        <p:txBody>
          <a:bodyPr>
            <a:spAutoFit/>
          </a:bodyPr>
          <a:lstStyle>
            <a:lvl1pPr marL="0" indent="0">
              <a:buNone/>
              <a:defRPr lang="en-US" sz="18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976325"/>
            <a:ext cx="3597275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6438" y="3976325"/>
            <a:ext cx="3459162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732562"/>
            <a:ext cx="3597275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6438" y="4732562"/>
            <a:ext cx="3459162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309360"/>
            <a:ext cx="4357688" cy="54864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FE01332-C819-25C6-31CD-B1DFEB2215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" y="513994"/>
            <a:ext cx="2981499" cy="4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5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bexOne 2026 Title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339908"/>
            <a:ext cx="8119872" cy="1554169"/>
          </a:xfrm>
        </p:spPr>
        <p:txBody>
          <a:bodyPr anchor="b" anchorCtr="0"/>
          <a:lstStyle>
            <a:lvl1pPr>
              <a:defRPr sz="4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894077"/>
            <a:ext cx="8119872" cy="276999"/>
          </a:xfrm>
          <a:noFill/>
        </p:spPr>
        <p:txBody>
          <a:bodyPr>
            <a:spAutoFit/>
          </a:bodyPr>
          <a:lstStyle>
            <a:lvl1pPr marL="0" indent="0">
              <a:buNone/>
              <a:defRPr lang="en-US" sz="18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3667126"/>
            <a:ext cx="3597274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6437" y="3667126"/>
            <a:ext cx="3459163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414170"/>
            <a:ext cx="3597275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6438" y="4414170"/>
            <a:ext cx="3459162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5161214"/>
            <a:ext cx="3597275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6438" y="5161214"/>
            <a:ext cx="3468690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309360"/>
            <a:ext cx="3906838" cy="54864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CFE968-78FB-E5F6-DFD3-8A2E5500B8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" y="513994"/>
            <a:ext cx="2981499" cy="4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4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98488"/>
            <a:ext cx="2780324" cy="51625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81551" y="598488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264" y="598488"/>
            <a:ext cx="565150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3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604962"/>
            <a:ext cx="4710113" cy="3648075"/>
          </a:xfrm>
        </p:spPr>
        <p:txBody>
          <a:bodyPr rIns="0" anchor="ctr" anchorCtr="0"/>
          <a:lstStyle>
            <a:lvl1pPr>
              <a:defRPr/>
            </a:lvl1pPr>
          </a:lstStyle>
          <a:p>
            <a:r>
              <a:rPr lang="en-US"/>
              <a:t>Agenda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1650" y="996156"/>
            <a:ext cx="4710113" cy="4865688"/>
          </a:xfrm>
          <a:noFill/>
        </p:spPr>
        <p:txBody>
          <a:bodyPr anchor="ctr" anchorCtr="0"/>
          <a:lstStyle>
            <a:lvl1pPr marL="640080" indent="-64008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>
                <a:schemeClr val="tx2">
                  <a:lumMod val="50000"/>
                </a:schemeClr>
              </a:buClr>
              <a:buSzPct val="100000"/>
              <a:buFont typeface="+mj-lt"/>
              <a:buAutoNum type="arabicPeriod"/>
              <a:defRPr lang="en-US" sz="24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2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58A35-AF6F-1BDB-E549-D72809E7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512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58A35-AF6F-1BDB-E549-D72809E7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317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071"/>
            <a:ext cx="54864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7862C-3CAA-E974-BA59-E1617CAB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08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2414" y="598488"/>
            <a:ext cx="62293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60DFE2-2A80-39EE-DC76-5F876869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4357687" cy="92392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434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5486400" cy="767646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69300-713C-B484-3118-78688CA2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10952163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828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548640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96583"/>
            <a:ext cx="5486400" cy="443331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91B70-B6FD-B992-F7B8-1F4F0B5C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964"/>
            <a:ext cx="10952163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907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577215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5300663" cy="1247775"/>
          </a:xfrm>
        </p:spPr>
        <p:txBody>
          <a:bodyPr wrap="square"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8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0"/>
            <a:ext cx="577215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2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1650" y="1244600"/>
            <a:ext cx="4710113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0"/>
            <a:ext cx="548640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4149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33525"/>
            <a:ext cx="10952163" cy="454183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99C22-B329-0767-B70E-5DCF991C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54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F527-D3DE-AC74-81B7-3FA95B30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8811"/>
            <a:ext cx="4722813" cy="93471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622300"/>
            <a:ext cx="5454333" cy="5473699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4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EB9F-E393-766C-F86A-CC59CC81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8811"/>
            <a:ext cx="6424613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93038" y="628650"/>
            <a:ext cx="3768725" cy="546735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0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0A44-9147-6EC4-DA39-B28EB961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3416300" cy="154272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2613" y="622300"/>
            <a:ext cx="7169150" cy="547370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2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16187"/>
            <a:ext cx="4722813" cy="1825625"/>
          </a:xfrm>
        </p:spPr>
        <p:txBody>
          <a:bodyPr wrap="square" anchor="ctr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622300"/>
            <a:ext cx="5465763" cy="547370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0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-2"/>
            <a:ext cx="3416299" cy="768096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3416300" cy="184943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2" y="3054350"/>
            <a:ext cx="3416298" cy="3041650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92613" y="622300"/>
            <a:ext cx="7169150" cy="547370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8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4722813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4722813" cy="1247775"/>
          </a:xfrm>
        </p:spPr>
        <p:txBody>
          <a:bodyPr wrap="square"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622300"/>
            <a:ext cx="5465762" cy="5473700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</a:t>
            </a:r>
            <a:br>
              <a:rPr lang="en-US"/>
            </a:br>
            <a:r>
              <a:rPr lang="en-US"/>
              <a:t>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8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25514"/>
            <a:ext cx="8794750" cy="944562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3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25514"/>
            <a:ext cx="8794750" cy="944562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2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25514"/>
            <a:ext cx="8794750" cy="944562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2CAC73-12F8-86AD-1D7A-9913DB28D827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3EF545-8C2F-956E-0CDE-AB9B07F17C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1806" y="6338412"/>
            <a:ext cx="503671" cy="2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2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Center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768096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625" y="1076961"/>
            <a:ext cx="8794750" cy="1059498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79D48-FE5D-A65B-67C8-07534C1A4115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409F66C-F73D-9418-B63E-B864393D77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1806" y="6338412"/>
            <a:ext cx="503671" cy="2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0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Center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768096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625" y="1076961"/>
            <a:ext cx="8794750" cy="1059498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7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768096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625" y="1076961"/>
            <a:ext cx="8794750" cy="1059498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79D48-FE5D-A65B-67C8-07534C1A4115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9A30A31-C977-C0C7-01AD-C96DE8E141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1806" y="6338412"/>
            <a:ext cx="503671" cy="2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9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581525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-7937"/>
            <a:ext cx="8326438" cy="768096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78388"/>
            <a:ext cx="8326438" cy="1196975"/>
          </a:xfrm>
        </p:spPr>
        <p:txBody>
          <a:bodyPr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2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6863" y="1836738"/>
            <a:ext cx="9050337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raphic 4" descr="Quotation Mark">
            <a:extLst>
              <a:ext uri="{FF2B5EF4-FFF2-40B4-BE49-F238E27FC236}">
                <a16:creationId xmlns:a16="http://schemas.microsoft.com/office/drawing/2014/main" id="{F8EEB664-6ACB-664C-2FCD-B74DB9945242}"/>
              </a:ext>
            </a:extLst>
          </p:cNvPr>
          <p:cNvSpPr/>
          <p:nvPr userDrawn="1"/>
        </p:nvSpPr>
        <p:spPr>
          <a:xfrm>
            <a:off x="5783956" y="1066705"/>
            <a:ext cx="411104" cy="331544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DB6F20F-A11C-BA1F-0D67-545AAB0B44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6863" y="4271963"/>
            <a:ext cx="9050337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</p:spTree>
    <p:extLst>
      <p:ext uri="{BB962C8B-B14F-4D97-AF65-F5344CB8AC3E}">
        <p14:creationId xmlns:p14="http://schemas.microsoft.com/office/powerpoint/2010/main" val="50807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6863" y="1836738"/>
            <a:ext cx="9050337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66863" y="4271963"/>
            <a:ext cx="9050337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raphic 4" descr="Quotation Mark">
            <a:extLst>
              <a:ext uri="{FF2B5EF4-FFF2-40B4-BE49-F238E27FC236}">
                <a16:creationId xmlns:a16="http://schemas.microsoft.com/office/drawing/2014/main" id="{C9D20DE9-4EB5-2E91-CA0A-EE3C98C58DD2}"/>
              </a:ext>
            </a:extLst>
          </p:cNvPr>
          <p:cNvSpPr/>
          <p:nvPr userDrawn="1"/>
        </p:nvSpPr>
        <p:spPr>
          <a:xfrm>
            <a:off x="5783956" y="1066705"/>
            <a:ext cx="411104" cy="331544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7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 userDrawn="1"/>
        </p:nvSpPr>
        <p:spPr>
          <a:xfrm>
            <a:off x="3838783" y="1145283"/>
            <a:ext cx="411104" cy="331544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9733" y="1706879"/>
            <a:ext cx="7444615" cy="2441051"/>
          </a:xfrm>
        </p:spPr>
        <p:txBody>
          <a:bodyPr/>
          <a:lstStyle>
            <a:lvl1pPr algn="l">
              <a:defRPr sz="36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dolore.”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9733" y="4265766"/>
            <a:ext cx="7444615" cy="383456"/>
          </a:xfrm>
        </p:spPr>
        <p:txBody>
          <a:bodyPr/>
          <a:lstStyle>
            <a:lvl1pPr marL="0" indent="0" algn="l">
              <a:lnSpc>
                <a:spcPct val="110000"/>
              </a:lnSpc>
              <a:spcAft>
                <a:spcPts val="0"/>
              </a:spcAft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First LastName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86AED0D-72C1-167D-66DB-8391E3109B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9733" y="4707228"/>
            <a:ext cx="7444615" cy="625475"/>
          </a:xfrm>
        </p:spPr>
        <p:txBody>
          <a:bodyPr/>
          <a:lstStyle>
            <a:lvl1pPr marL="0" indent="0" algn="l">
              <a:lnSpc>
                <a:spcPct val="110000"/>
              </a:lnSpc>
              <a:spcAft>
                <a:spcPts val="0"/>
              </a:spcAft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Job Title Goes Here</a:t>
            </a:r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D0F5A78-ABEA-CC04-DE38-1A4EE04742BA}"/>
              </a:ext>
            </a:extLst>
          </p:cNvPr>
          <p:cNvSpPr/>
          <p:nvPr userDrawn="1"/>
        </p:nvSpPr>
        <p:spPr>
          <a:xfrm>
            <a:off x="0" y="6143625"/>
            <a:ext cx="3286125" cy="712566"/>
          </a:xfrm>
          <a:prstGeom prst="rect">
            <a:avLst/>
          </a:prstGeom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5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6693" y="987949"/>
            <a:ext cx="7637655" cy="2441051"/>
          </a:xfrm>
        </p:spPr>
        <p:txBody>
          <a:bodyPr/>
          <a:lstStyle>
            <a:lvl1pPr marL="182880" indent="-457200" algn="l">
              <a:defRPr lang="en-US" sz="36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r>
              <a:rPr lang="en-US"/>
              <a:t>“Quote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dolore.”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9733" y="3546836"/>
            <a:ext cx="7444615" cy="383456"/>
          </a:xfrm>
        </p:spPr>
        <p:txBody>
          <a:bodyPr/>
          <a:lstStyle>
            <a:lvl1pPr marL="0" indent="0" algn="l">
              <a:lnSpc>
                <a:spcPct val="110000"/>
              </a:lnSpc>
              <a:spcAft>
                <a:spcPts val="0"/>
              </a:spcAft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First LastName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86AED0D-72C1-167D-66DB-8391E3109B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9733" y="3988298"/>
            <a:ext cx="7444615" cy="625475"/>
          </a:xfrm>
        </p:spPr>
        <p:txBody>
          <a:bodyPr/>
          <a:lstStyle>
            <a:lvl1pPr marL="0" indent="0" algn="l">
              <a:lnSpc>
                <a:spcPct val="110000"/>
              </a:lnSpc>
              <a:spcAft>
                <a:spcPts val="0"/>
              </a:spcAft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Job Title Goes Here</a:t>
            </a: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4E8FC3B-0B83-BC74-24E3-14919B815C88}"/>
              </a:ext>
            </a:extLst>
          </p:cNvPr>
          <p:cNvSpPr/>
          <p:nvPr userDrawn="1"/>
        </p:nvSpPr>
        <p:spPr>
          <a:xfrm>
            <a:off x="0" y="6143625"/>
            <a:ext cx="3286125" cy="712566"/>
          </a:xfrm>
          <a:prstGeom prst="rect">
            <a:avLst/>
          </a:prstGeom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22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449705"/>
            <a:ext cx="5465763" cy="3283903"/>
          </a:xfrm>
        </p:spPr>
        <p:txBody>
          <a:bodyPr anchor="b" anchorCtr="0"/>
          <a:lstStyle>
            <a:lvl1pPr algn="l">
              <a:defRPr sz="4000"/>
            </a:lvl1pPr>
          </a:lstStyle>
          <a:p>
            <a:r>
              <a:rPr lang="en-US"/>
              <a:t>“Quote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no </a:t>
            </a:r>
            <a:r>
              <a:rPr lang="en-GB" err="1"/>
              <a:t>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9" y="4733608"/>
            <a:ext cx="5465763" cy="673417"/>
          </a:xfrm>
        </p:spPr>
        <p:txBody>
          <a:bodyPr tIns="91440"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C7252D7-21C0-547A-7B00-7ED60451CB6D}"/>
              </a:ext>
            </a:extLst>
          </p:cNvPr>
          <p:cNvSpPr/>
          <p:nvPr userDrawn="1"/>
        </p:nvSpPr>
        <p:spPr>
          <a:xfrm>
            <a:off x="0" y="6143625"/>
            <a:ext cx="3286125" cy="712566"/>
          </a:xfrm>
          <a:prstGeom prst="rect">
            <a:avLst/>
          </a:prstGeom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02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538" y="952501"/>
            <a:ext cx="7954962" cy="1493838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41538" y="2446339"/>
            <a:ext cx="7954961" cy="982661"/>
          </a:xfrm>
        </p:spPr>
        <p:txBody>
          <a:bodyPr tIns="91440"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680" y="1836738"/>
            <a:ext cx="5295583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15741-2370-FD45-DBFB-7AEDA1FA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5300662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385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2 Slide, Title, Body Copy, Graphic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680" y="1836738"/>
            <a:ext cx="5295583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15741-2370-FD45-DBFB-7AEDA1FA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5300662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540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320189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374877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181723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237552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189703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252622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538" y="577850"/>
            <a:ext cx="7954962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41538" y="3054350"/>
            <a:ext cx="7954961" cy="936625"/>
          </a:xfrm>
        </p:spPr>
        <p:txBody>
          <a:bodyPr tIns="91440"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2446339"/>
            <a:ext cx="7162799" cy="1916906"/>
          </a:xfrm>
        </p:spPr>
        <p:txBody>
          <a:bodyPr anchor="ctr" anchorCtr="0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437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2375"/>
            <a:ext cx="7366000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100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2375"/>
            <a:ext cx="7366000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875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114676"/>
            <a:ext cx="5300663" cy="623888"/>
          </a:xfr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0009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Relationship Id="rId51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598811"/>
            <a:ext cx="10952163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09600" y="1545265"/>
            <a:ext cx="10937489" cy="4550736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4211637" y="6400165"/>
            <a:ext cx="3763963" cy="4572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9115425" y="6398991"/>
            <a:ext cx="1773238" cy="4572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7938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B647726-7CF0-1E16-E4CE-1BFE4C8B5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1121806" y="6338412"/>
            <a:ext cx="503671" cy="2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3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4" r:id="rId1"/>
    <p:sldLayoutId id="2147484294" r:id="rId2"/>
    <p:sldLayoutId id="2147484295" r:id="rId3"/>
    <p:sldLayoutId id="2147484296" r:id="rId4"/>
    <p:sldLayoutId id="2147484246" r:id="rId5"/>
    <p:sldLayoutId id="2147484299" r:id="rId6"/>
    <p:sldLayoutId id="2147484247" r:id="rId7"/>
    <p:sldLayoutId id="2147484305" r:id="rId8"/>
    <p:sldLayoutId id="2147484248" r:id="rId9"/>
    <p:sldLayoutId id="2147484249" r:id="rId10"/>
    <p:sldLayoutId id="2147484250" r:id="rId11"/>
    <p:sldLayoutId id="2147484251" r:id="rId12"/>
    <p:sldLayoutId id="2147484253" r:id="rId13"/>
    <p:sldLayoutId id="2147484254" r:id="rId14"/>
    <p:sldLayoutId id="2147484256" r:id="rId15"/>
    <p:sldLayoutId id="2147484252" r:id="rId16"/>
    <p:sldLayoutId id="2147484257" r:id="rId17"/>
    <p:sldLayoutId id="2147484263" r:id="rId18"/>
    <p:sldLayoutId id="2147484264" r:id="rId19"/>
    <p:sldLayoutId id="2147484265" r:id="rId20"/>
    <p:sldLayoutId id="2147484266" r:id="rId21"/>
    <p:sldLayoutId id="2147484267" r:id="rId22"/>
    <p:sldLayoutId id="2147484268" r:id="rId23"/>
    <p:sldLayoutId id="2147484307" r:id="rId24"/>
    <p:sldLayoutId id="2147484308" r:id="rId25"/>
    <p:sldLayoutId id="2147484272" r:id="rId26"/>
    <p:sldLayoutId id="2147484274" r:id="rId27"/>
    <p:sldLayoutId id="2147484309" r:id="rId28"/>
    <p:sldLayoutId id="2147484310" r:id="rId29"/>
    <p:sldLayoutId id="2147484276" r:id="rId30"/>
    <p:sldLayoutId id="2147484277" r:id="rId31"/>
    <p:sldLayoutId id="2147484278" r:id="rId32"/>
    <p:sldLayoutId id="2147484315" r:id="rId33"/>
    <p:sldLayoutId id="2147484316" r:id="rId34"/>
    <p:sldLayoutId id="2147484279" r:id="rId35"/>
    <p:sldLayoutId id="2147484286" r:id="rId36"/>
    <p:sldLayoutId id="2147484280" r:id="rId37"/>
    <p:sldLayoutId id="2147484317" r:id="rId38"/>
    <p:sldLayoutId id="2147484281" r:id="rId39"/>
    <p:sldLayoutId id="2147484311" r:id="rId40"/>
    <p:sldLayoutId id="2147484312" r:id="rId41"/>
    <p:sldLayoutId id="2147484313" r:id="rId42"/>
    <p:sldLayoutId id="2147484318" r:id="rId43"/>
    <p:sldLayoutId id="2147484319" r:id="rId44"/>
    <p:sldLayoutId id="2147484285" r:id="rId45"/>
    <p:sldLayoutId id="2147484297" r:id="rId46"/>
    <p:sldLayoutId id="2147484288" r:id="rId47"/>
    <p:sldLayoutId id="2147484289" r:id="rId48"/>
    <p:sldLayoutId id="2147484298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orient="horz" pos="2160" userDrawn="1">
          <p15:clr>
            <a:srgbClr val="F26B43"/>
          </p15:clr>
        </p15:guide>
        <p15:guide id="67" pos="384" userDrawn="1">
          <p15:clr>
            <a:srgbClr val="F26B43"/>
          </p15:clr>
        </p15:guide>
        <p15:guide id="68" pos="7283" userDrawn="1">
          <p15:clr>
            <a:srgbClr val="F26B43"/>
          </p15:clr>
        </p15:guide>
        <p15:guide id="69" pos="3840" userDrawn="1">
          <p15:clr>
            <a:srgbClr val="F26B43"/>
          </p15:clr>
        </p15:guide>
        <p15:guide id="70" orient="horz" pos="3840" userDrawn="1">
          <p15:clr>
            <a:srgbClr val="9FCC3B"/>
          </p15:clr>
        </p15:guide>
        <p15:guide id="71" orient="horz" pos="392" userDrawn="1">
          <p15:clr>
            <a:srgbClr val="F26B43"/>
          </p15:clr>
        </p15:guide>
        <p15:guide id="73" orient="horz" pos="2691" userDrawn="1">
          <p15:clr>
            <a:srgbClr val="A4A3A4"/>
          </p15:clr>
        </p15:guide>
        <p15:guide id="74" orient="horz" pos="583" userDrawn="1">
          <p15:clr>
            <a:srgbClr val="A4A3A4"/>
          </p15:clr>
        </p15:guide>
        <p15:guide id="75" orient="horz" pos="1732" userDrawn="1">
          <p15:clr>
            <a:srgbClr val="A4A3A4"/>
          </p15:clr>
        </p15:guide>
        <p15:guide id="76" orient="horz" pos="2307" userDrawn="1">
          <p15:clr>
            <a:srgbClr val="A4A3A4"/>
          </p15:clr>
        </p15:guide>
        <p15:guide id="77" orient="horz" pos="4090" userDrawn="1">
          <p15:clr>
            <a:srgbClr val="F26B43"/>
          </p15:clr>
        </p15:guide>
        <p15:guide id="78" orient="horz" pos="1157" userDrawn="1">
          <p15:clr>
            <a:srgbClr val="A4A3A4"/>
          </p15:clr>
        </p15:guide>
        <p15:guide id="79" orient="horz" pos="1349" userDrawn="1">
          <p15:clr>
            <a:srgbClr val="A4A3A4"/>
          </p15:clr>
        </p15:guide>
        <p15:guide id="80" orient="horz" pos="1541" userDrawn="1">
          <p15:clr>
            <a:srgbClr val="A4A3A4"/>
          </p15:clr>
        </p15:guide>
        <p15:guide id="81" pos="755" userDrawn="1">
          <p15:clr>
            <a:srgbClr val="A4A3A4"/>
          </p15:clr>
        </p15:guide>
        <p15:guide id="82" pos="987" userDrawn="1">
          <p15:clr>
            <a:srgbClr val="A4A3A4"/>
          </p15:clr>
        </p15:guide>
        <p15:guide id="83" pos="1349" userDrawn="1">
          <p15:clr>
            <a:srgbClr val="A4A3A4"/>
          </p15:clr>
        </p15:guide>
        <p15:guide id="84" pos="1584" userDrawn="1">
          <p15:clr>
            <a:srgbClr val="A4A3A4"/>
          </p15:clr>
        </p15:guide>
        <p15:guide id="85" pos="1941" userDrawn="1">
          <p15:clr>
            <a:srgbClr val="A4A3A4"/>
          </p15:clr>
        </p15:guide>
        <p15:guide id="86" pos="2172" userDrawn="1">
          <p15:clr>
            <a:srgbClr val="A4A3A4"/>
          </p15:clr>
        </p15:guide>
        <p15:guide id="87" pos="2536" userDrawn="1">
          <p15:clr>
            <a:srgbClr val="A4A3A4"/>
          </p15:clr>
        </p15:guide>
        <p15:guide id="88" pos="2767" userDrawn="1">
          <p15:clr>
            <a:srgbClr val="A4A3A4"/>
          </p15:clr>
        </p15:guide>
        <p15:guide id="89" pos="3129" userDrawn="1">
          <p15:clr>
            <a:srgbClr val="A4A3A4"/>
          </p15:clr>
        </p15:guide>
        <p15:guide id="90" pos="3359" userDrawn="1">
          <p15:clr>
            <a:srgbClr val="A4A3A4"/>
          </p15:clr>
        </p15:guide>
        <p15:guide id="91" pos="3723" userDrawn="1">
          <p15:clr>
            <a:srgbClr val="A4A3A4"/>
          </p15:clr>
        </p15:guide>
        <p15:guide id="92" pos="3952" userDrawn="1">
          <p15:clr>
            <a:srgbClr val="A4A3A4"/>
          </p15:clr>
        </p15:guide>
        <p15:guide id="93" pos="4316" userDrawn="1">
          <p15:clr>
            <a:srgbClr val="A4A3A4"/>
          </p15:clr>
        </p15:guide>
        <p15:guide id="94" pos="4546" userDrawn="1">
          <p15:clr>
            <a:srgbClr val="A4A3A4"/>
          </p15:clr>
        </p15:guide>
        <p15:guide id="95" pos="4909" userDrawn="1">
          <p15:clr>
            <a:srgbClr val="A4A3A4"/>
          </p15:clr>
        </p15:guide>
        <p15:guide id="96" pos="5139" userDrawn="1">
          <p15:clr>
            <a:srgbClr val="A4A3A4"/>
          </p15:clr>
        </p15:guide>
        <p15:guide id="97" pos="5496" userDrawn="1">
          <p15:clr>
            <a:srgbClr val="A4A3A4"/>
          </p15:clr>
        </p15:guide>
        <p15:guide id="98" pos="5742" userDrawn="1">
          <p15:clr>
            <a:srgbClr val="A4A3A4"/>
          </p15:clr>
        </p15:guide>
        <p15:guide id="99" pos="6360" userDrawn="1">
          <p15:clr>
            <a:srgbClr val="A4A3A4"/>
          </p15:clr>
        </p15:guide>
        <p15:guide id="101" pos="6688" userDrawn="1">
          <p15:clr>
            <a:srgbClr val="A4A3A4"/>
          </p15:clr>
        </p15:guide>
        <p15:guide id="102" pos="6919" userDrawn="1">
          <p15:clr>
            <a:srgbClr val="A4A3A4"/>
          </p15:clr>
        </p15:guide>
        <p15:guide id="103" orient="horz" pos="774" userDrawn="1">
          <p15:clr>
            <a:srgbClr val="A4A3A4"/>
          </p15:clr>
        </p15:guide>
        <p15:guide id="104" orient="horz" pos="966" userDrawn="1">
          <p15:clr>
            <a:srgbClr val="A4A3A4"/>
          </p15:clr>
        </p15:guide>
        <p15:guide id="105" orient="horz" pos="1924" userDrawn="1">
          <p15:clr>
            <a:srgbClr val="A4A3A4"/>
          </p15:clr>
        </p15:guide>
        <p15:guide id="106" orient="horz" pos="2881" userDrawn="1">
          <p15:clr>
            <a:srgbClr val="A4A3A4"/>
          </p15:clr>
        </p15:guide>
        <p15:guide id="107" orient="horz" pos="3073" userDrawn="1">
          <p15:clr>
            <a:srgbClr val="A4A3A4"/>
          </p15:clr>
        </p15:guide>
        <p15:guide id="108" orient="horz" pos="3264" userDrawn="1">
          <p15:clr>
            <a:srgbClr val="A4A3A4"/>
          </p15:clr>
        </p15:guide>
        <p15:guide id="109" orient="horz" pos="3456" userDrawn="1">
          <p15:clr>
            <a:srgbClr val="A4A3A4"/>
          </p15:clr>
        </p15:guide>
        <p15:guide id="110" orient="horz" pos="3648" userDrawn="1">
          <p15:clr>
            <a:srgbClr val="A4A3A4"/>
          </p15:clr>
        </p15:guide>
        <p15:guide id="111" orient="horz" pos="2115" userDrawn="1">
          <p15:clr>
            <a:srgbClr val="A4A3A4"/>
          </p15:clr>
        </p15:guide>
        <p15:guide id="112" orient="horz" pos="3925" userDrawn="1">
          <p15:clr>
            <a:srgbClr val="A4A3A4"/>
          </p15:clr>
        </p15:guide>
        <p15:guide id="113" orient="horz" pos="377" userDrawn="1">
          <p15:clr>
            <a:srgbClr val="9FCC3B"/>
          </p15:clr>
        </p15:guide>
        <p15:guide id="115" pos="870" userDrawn="1">
          <p15:clr>
            <a:srgbClr val="9FCC3B"/>
          </p15:clr>
        </p15:guide>
        <p15:guide id="116" pos="1467" userDrawn="1">
          <p15:clr>
            <a:srgbClr val="9FCC3B"/>
          </p15:clr>
        </p15:guide>
        <p15:guide id="117" pos="2057" userDrawn="1">
          <p15:clr>
            <a:srgbClr val="9FCC3B"/>
          </p15:clr>
        </p15:guide>
        <p15:guide id="118" pos="2650" userDrawn="1">
          <p15:clr>
            <a:srgbClr val="9FCC3B"/>
          </p15:clr>
        </p15:guide>
        <p15:guide id="119" pos="3243" userDrawn="1">
          <p15:clr>
            <a:srgbClr val="9FCC3B"/>
          </p15:clr>
        </p15:guide>
        <p15:guide id="120" pos="4431" userDrawn="1">
          <p15:clr>
            <a:srgbClr val="9FCC3B"/>
          </p15:clr>
        </p15:guide>
        <p15:guide id="121" pos="5024" userDrawn="1">
          <p15:clr>
            <a:srgbClr val="9FCC3B"/>
          </p15:clr>
        </p15:guide>
        <p15:guide id="122" pos="5616" userDrawn="1">
          <p15:clr>
            <a:srgbClr val="9FCC3B"/>
          </p15:clr>
        </p15:guide>
        <p15:guide id="123" pos="6801" userDrawn="1">
          <p15:clr>
            <a:srgbClr val="9FCC3B"/>
          </p15:clr>
        </p15:guide>
        <p15:guide id="124" pos="6210" userDrawn="1">
          <p15:clr>
            <a:srgbClr val="9FCC3B"/>
          </p15:clr>
        </p15:guide>
        <p15:guide id="126" orient="horz" pos="229" userDrawn="1">
          <p15:clr>
            <a:srgbClr val="A4A3A4"/>
          </p15:clr>
        </p15:guide>
        <p15:guide id="127" orient="horz" pos="2498" userDrawn="1">
          <p15:clr>
            <a:srgbClr val="A4A3A4"/>
          </p15:clr>
        </p15:guide>
        <p15:guide id="128" pos="6096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the conversation!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Scan the QR code to join the Webex space for Q&amp;A and lab support.  [QR 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WxCC Agent Lifecycle, Powered by MCP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Build an MCP server that lets an AI assistant onboard, diagnose, and offboard contact-center agents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Speaker Name — Speaker Title, @social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Speaker Name — Speaker Title, @social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Month 00,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  <a:p>
            <a:r>
              <a:t>02</a:t>
            </a:r>
          </a:p>
          <a:p>
            <a:r>
              <a:t>03</a:t>
            </a:r>
          </a:p>
          <a:p>
            <a:r>
              <a:t>04</a:t>
            </a:r>
          </a:p>
          <a:p>
            <a:r>
              <a:t>05</a:t>
            </a:r>
          </a:p>
          <a:p>
            <a:r>
              <a:t>06</a:t>
            </a:r>
          </a:p>
          <a:p>
            <a:r>
              <a:t>07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Why MCP + WxCC</a:t>
            </a:r>
          </a:p>
          <a:p>
            <a:r>
              <a:t>MCP primitives</a:t>
            </a:r>
          </a:p>
          <a:p>
            <a:r>
              <a:t>Setup &amp; connect</a:t>
            </a:r>
          </a:p>
          <a:p>
            <a:r>
              <a:t>Build-live</a:t>
            </a:r>
          </a:p>
          <a:p>
            <a:r>
              <a:t>Diagnose</a:t>
            </a:r>
          </a:p>
          <a:p>
            <a:r>
              <a:t>Onboard / offboard + write-safety</a:t>
            </a:r>
          </a:p>
          <a:p>
            <a:r>
              <a:t>Going further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Why MCP + WxCC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WxCC admins juggle users, teams, queues, and skill profiles across multiple consoles.</a:t>
            </a:r>
          </a:p>
          <a:p>
            <a:r>
              <a:t>“Why can't this agent go available?” means manually cross-checking several config objects.</a:t>
            </a:r>
          </a:p>
          <a:p>
            <a:r>
              <a:t>Onboarding and offboarding are repetitive, error-prone, multi-step chores.</a:t>
            </a:r>
          </a:p>
          <a:p>
            <a:r>
              <a:t>An AI assistant could do this — if it could safely reach the WxCC APIs.</a:t>
            </a:r>
          </a:p>
          <a:p>
            <a:r>
              <a:t>→ developer.webex.com/docs/contact-center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config sprawl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Model Context Protocol: an open standard connecting AI assistants to tools, data, and workflows.</a:t>
            </a:r>
          </a:p>
          <a:p>
            <a:r>
              <a:t>A server exposes typed capabilities; any MCP-capable client can call them.</a:t>
            </a:r>
          </a:p>
          <a:p>
            <a:r>
              <a:t>Primitives: tools, resources, prompts, elicitation, progress, logging, sampling.</a:t>
            </a:r>
          </a:p>
          <a:p>
            <a:r>
              <a:t>We wrap the WxCC Admin/Config + Reporting/Search APIs behind one MCP server.</a:t>
            </a:r>
          </a:p>
          <a:p>
            <a:r>
              <a:t>→ modelcontextprotocol.io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narrative: onboard → diagnose → offboard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whole lab follows a single agent's lifecycle, so every MCP primitive lands on one coherent 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MCP primitives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Tools — curated reads, a composite diagnostic, and gated writes.</a:t>
            </a:r>
          </a:p>
          <a:p>
            <a:r>
              <a:t>Resources — reference docs the assistant can read for context.</a:t>
            </a:r>
          </a:p>
          <a:p>
            <a:r>
              <a:t>Prompts — guided workflows (diagnose, onboard).</a:t>
            </a:r>
          </a:p>
          <a:p>
            <a:r>
              <a:t>Elicitation + Progress — approve writes; stream multi-step status.</a:t>
            </a:r>
          </a:p>
          <a:p>
            <a:r>
              <a:t>Client logging + Sampling — narrate steps; optional AI-written summary.</a:t>
            </a:r>
          </a:p>
          <a:p>
            <a:r>
              <a:t>→ modelcontextprotocol.io/docs/concepts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Seven primitives, one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4">
            <a:extLst>
              <a:ext uri="{FF2B5EF4-FFF2-40B4-BE49-F238E27FC236}">
                <a16:creationId xmlns:a16="http://schemas.microsoft.com/office/drawing/2014/main" id="{7BF91145-D8BE-2D80-FBCE-4399AE3B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curated surface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617FD-1421-46E3-5480-5C04DE76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Session ID: BRKSEC-XXXX</a:t>
            </a:r>
          </a:p>
        </p:txBody>
      </p:sp>
      <p:sp>
        <p:nvSpPr>
          <p:cNvPr id="9" name="Text Placeholder 58">
            <a:extLst>
              <a:ext uri="{FF2B5EF4-FFF2-40B4-BE49-F238E27FC236}">
                <a16:creationId xmlns:a16="http://schemas.microsoft.com/office/drawing/2014/main" id="{643E895C-ED29-8988-14B1-4F95117286C9}"/>
              </a:ext>
            </a:extLst>
          </p:cNvPr>
          <p:cNvSpPr txBox="1">
            <a:spLocks/>
          </p:cNvSpPr>
          <p:nvPr/>
        </p:nvSpPr>
        <p:spPr>
          <a:xfrm>
            <a:off x="9130188" y="3672638"/>
            <a:ext cx="1746128" cy="83099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457200" indent="-11430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7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5400" kern="1200" spc="-133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2"/>
                    </a:gs>
                  </a:gsLst>
                  <a:lin ang="5400000" scaled="1"/>
                  <a:tileRect/>
                </a:gradFill>
                <a:latin typeface="+mj-lt"/>
              </a:rPr>
              <a:t>16</a:t>
            </a:r>
          </a:p>
        </p:txBody>
      </p:sp>
      <p:sp>
        <p:nvSpPr>
          <p:cNvPr id="10" name="Content Placeholder 55">
            <a:extLst>
              <a:ext uri="{FF2B5EF4-FFF2-40B4-BE49-F238E27FC236}">
                <a16:creationId xmlns:a16="http://schemas.microsoft.com/office/drawing/2014/main" id="{FB1E27B6-FD95-9C49-6224-8BA208A25A54}"/>
              </a:ext>
            </a:extLst>
          </p:cNvPr>
          <p:cNvSpPr txBox="1">
            <a:spLocks/>
          </p:cNvSpPr>
          <p:nvPr/>
        </p:nvSpPr>
        <p:spPr>
          <a:xfrm>
            <a:off x="9130188" y="4755577"/>
            <a:ext cx="1911096" cy="5539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457200" indent="-11430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7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>
                <a:solidFill>
                  <a:schemeClr val="bg1"/>
                </a:solidFill>
              </a:rPr>
              <a:t>Tools</a:t>
            </a:r>
          </a:p>
        </p:txBody>
      </p:sp>
      <p:sp>
        <p:nvSpPr>
          <p:cNvPr id="12" name="Text Placeholder 59">
            <a:extLst>
              <a:ext uri="{FF2B5EF4-FFF2-40B4-BE49-F238E27FC236}">
                <a16:creationId xmlns:a16="http://schemas.microsoft.com/office/drawing/2014/main" id="{6E3E596D-5A92-6019-DFBC-AFF57AA0D807}"/>
              </a:ext>
            </a:extLst>
          </p:cNvPr>
          <p:cNvSpPr txBox="1">
            <a:spLocks/>
          </p:cNvSpPr>
          <p:nvPr/>
        </p:nvSpPr>
        <p:spPr>
          <a:xfrm>
            <a:off x="6273800" y="3672638"/>
            <a:ext cx="1746128" cy="8309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457200" indent="-11430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7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5400" kern="1200" spc="-133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2"/>
                    </a:gs>
                  </a:gsLst>
                  <a:lin ang="5400000" scaled="1"/>
                  <a:tileRect/>
                </a:gradFill>
                <a:latin typeface="+mj-lt"/>
              </a:rPr>
              <a:t>6</a:t>
            </a:r>
          </a:p>
        </p:txBody>
      </p:sp>
      <p:sp>
        <p:nvSpPr>
          <p:cNvPr id="13" name="Content Placeholder 56">
            <a:extLst>
              <a:ext uri="{FF2B5EF4-FFF2-40B4-BE49-F238E27FC236}">
                <a16:creationId xmlns:a16="http://schemas.microsoft.com/office/drawing/2014/main" id="{7D2C5BA0-C7C0-D060-8EFF-DE8D572842F0}"/>
              </a:ext>
            </a:extLst>
          </p:cNvPr>
          <p:cNvSpPr txBox="1">
            <a:spLocks/>
          </p:cNvSpPr>
          <p:nvPr/>
        </p:nvSpPr>
        <p:spPr>
          <a:xfrm>
            <a:off x="6273800" y="4755577"/>
            <a:ext cx="1911096" cy="5539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457200" indent="-11430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7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>
                <a:solidFill>
                  <a:schemeClr val="bg1"/>
                </a:solidFill>
              </a:rPr>
              <a:t>Resources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5" name="Text Placeholder 60">
            <a:extLst>
              <a:ext uri="{FF2B5EF4-FFF2-40B4-BE49-F238E27FC236}">
                <a16:creationId xmlns:a16="http://schemas.microsoft.com/office/drawing/2014/main" id="{8282542D-CD98-CB1B-BF95-E07B55CBA5DC}"/>
              </a:ext>
            </a:extLst>
          </p:cNvPr>
          <p:cNvSpPr txBox="1">
            <a:spLocks/>
          </p:cNvSpPr>
          <p:nvPr/>
        </p:nvSpPr>
        <p:spPr>
          <a:xfrm>
            <a:off x="9130188" y="1246094"/>
            <a:ext cx="1914953" cy="83099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457200" indent="-11430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7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5400" kern="1200" spc="-133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2"/>
                    </a:gs>
                  </a:gsLst>
                  <a:lin ang="5400000" scaled="1"/>
                  <a:tileRect/>
                </a:gradFill>
                <a:latin typeface="+mj-lt"/>
              </a:rPr>
              <a:t>2</a:t>
            </a:r>
          </a:p>
        </p:txBody>
      </p:sp>
      <p:sp>
        <p:nvSpPr>
          <p:cNvPr id="16" name="Content Placeholder 57">
            <a:extLst>
              <a:ext uri="{FF2B5EF4-FFF2-40B4-BE49-F238E27FC236}">
                <a16:creationId xmlns:a16="http://schemas.microsoft.com/office/drawing/2014/main" id="{1513AC9F-DB52-433F-F226-F8C449F5C02C}"/>
              </a:ext>
            </a:extLst>
          </p:cNvPr>
          <p:cNvSpPr txBox="1">
            <a:spLocks/>
          </p:cNvSpPr>
          <p:nvPr/>
        </p:nvSpPr>
        <p:spPr>
          <a:xfrm>
            <a:off x="9130188" y="2329033"/>
            <a:ext cx="2391787" cy="5539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457200" indent="-11430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7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>
                <a:solidFill>
                  <a:schemeClr val="bg1"/>
                </a:solidFill>
              </a:rPr>
              <a:t>Prompts</a:t>
            </a:r>
            <a:br>
              <a:rPr lang="en-US" sz="1800">
                <a:solidFill>
                  <a:schemeClr val="bg1"/>
                </a:solidFill>
              </a:rPr>
            </a:br>
            <a:r>
              <a:rPr lang="en-US" sz="1800">
                <a:solidFill>
                  <a:schemeClr val="bg1"/>
                </a:solidFill>
              </a:rPr>
              <a:t/>
            </a:r>
          </a:p>
        </p:txBody>
      </p:sp>
      <p:sp>
        <p:nvSpPr>
          <p:cNvPr id="18" name="Text Placeholder 60">
            <a:extLst>
              <a:ext uri="{FF2B5EF4-FFF2-40B4-BE49-F238E27FC236}">
                <a16:creationId xmlns:a16="http://schemas.microsoft.com/office/drawing/2014/main" id="{A685E39E-B45D-D256-7979-AE5F00CEBEF0}"/>
              </a:ext>
            </a:extLst>
          </p:cNvPr>
          <p:cNvSpPr txBox="1">
            <a:spLocks/>
          </p:cNvSpPr>
          <p:nvPr/>
        </p:nvSpPr>
        <p:spPr>
          <a:xfrm>
            <a:off x="6273800" y="1239873"/>
            <a:ext cx="1931595" cy="83099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457200" indent="-11430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7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5400" kern="1200" spc="-133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2"/>
                    </a:gs>
                  </a:gsLst>
                  <a:lin ang="5400000" scaled="1"/>
                  <a:tileRect/>
                </a:gradFill>
                <a:latin typeface="+mj-lt"/>
              </a:rPr>
              <a:t>7</a:t>
            </a:r>
          </a:p>
        </p:txBody>
      </p:sp>
      <p:sp>
        <p:nvSpPr>
          <p:cNvPr id="19" name="Content Placeholder 57">
            <a:extLst>
              <a:ext uri="{FF2B5EF4-FFF2-40B4-BE49-F238E27FC236}">
                <a16:creationId xmlns:a16="http://schemas.microsoft.com/office/drawing/2014/main" id="{3C6612C4-F7E0-400A-595C-CC1CB69547A6}"/>
              </a:ext>
            </a:extLst>
          </p:cNvPr>
          <p:cNvSpPr txBox="1">
            <a:spLocks/>
          </p:cNvSpPr>
          <p:nvPr/>
        </p:nvSpPr>
        <p:spPr>
          <a:xfrm>
            <a:off x="6273800" y="2322811"/>
            <a:ext cx="2533017" cy="5539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457200" indent="-11430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7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>
                <a:solidFill>
                  <a:schemeClr val="bg1"/>
                </a:solidFill>
              </a:rPr>
              <a:t>MCP primitives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5F2358-C6CC-296C-377A-6FBDAC302B9F}"/>
              </a:ext>
            </a:extLst>
          </p:cNvPr>
          <p:cNvCxnSpPr>
            <a:cxnSpLocks/>
          </p:cNvCxnSpPr>
          <p:nvPr/>
        </p:nvCxnSpPr>
        <p:spPr>
          <a:xfrm>
            <a:off x="6273800" y="3358278"/>
            <a:ext cx="2471738" cy="0"/>
          </a:xfrm>
          <a:prstGeom prst="line">
            <a:avLst/>
          </a:prstGeom>
          <a:ln w="1270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4216D85-6D93-216A-680B-BB23591FA174}"/>
              </a:ext>
            </a:extLst>
          </p:cNvPr>
          <p:cNvCxnSpPr>
            <a:cxnSpLocks/>
          </p:cNvCxnSpPr>
          <p:nvPr/>
        </p:nvCxnSpPr>
        <p:spPr>
          <a:xfrm>
            <a:off x="9130188" y="3358278"/>
            <a:ext cx="2471738" cy="0"/>
          </a:xfrm>
          <a:prstGeom prst="line">
            <a:avLst/>
          </a:prstGeom>
          <a:ln w="1270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C0BEAB-3AFF-76E2-5C0E-391A26B3BAC9}"/>
              </a:ext>
            </a:extLst>
          </p:cNvPr>
          <p:cNvCxnSpPr>
            <a:cxnSpLocks/>
          </p:cNvCxnSpPr>
          <p:nvPr/>
        </p:nvCxnSpPr>
        <p:spPr>
          <a:xfrm>
            <a:off x="6273800" y="925513"/>
            <a:ext cx="2471738" cy="0"/>
          </a:xfrm>
          <a:prstGeom prst="line">
            <a:avLst/>
          </a:prstGeom>
          <a:ln w="1270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B68848-1F72-D459-5D80-AA02ED9D9830}"/>
              </a:ext>
            </a:extLst>
          </p:cNvPr>
          <p:cNvCxnSpPr>
            <a:cxnSpLocks/>
          </p:cNvCxnSpPr>
          <p:nvPr/>
        </p:nvCxnSpPr>
        <p:spPr>
          <a:xfrm>
            <a:off x="9130188" y="925513"/>
            <a:ext cx="2425139" cy="0"/>
          </a:xfrm>
          <a:prstGeom prst="line">
            <a:avLst/>
          </a:prstGeom>
          <a:ln w="1270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Setup &amp; connect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Python 3.11+, a virtual environment, and `pip install -e ".[dev]"`.</a:t>
            </a:r>
          </a:p>
          <a:p>
            <a:r>
              <a:t>A per-session OAuth broker (tokens encrypted at rest, never logged).</a:t>
            </a:r>
          </a:p>
          <a:p>
            <a:r>
              <a:t>Config + Reporting API base URLs and scopes set in `.env`.</a:t>
            </a:r>
          </a:p>
          <a:p>
            <a:r>
              <a:t>Endpoint paths ship as `# VERIFY` / `# TODO` placeholders — resolve before live use.</a:t>
            </a:r>
          </a:p>
          <a:p>
            <a:r>
              <a:t>→ wxcc-mcp-server/README.md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you'll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1. Create + activate a venv; `pip install -e ".[dev]"`.</a:t>
            </a:r>
          </a:p>
          <a:p>
            <a:r>
              <a:t>2. Generate `WXCC_TOKEN_ENCRYPTION_KEY` and populate `.env`.</a:t>
            </a:r>
          </a:p>
          <a:p>
            <a:r>
              <a:t>3. Start the server over stdio: `wxcc-mcp-server`.</a:t>
            </a:r>
          </a:p>
          <a:p>
            <a:r>
              <a:t>4. Point an MCP-capable client at it and confirm the tools appear.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· hands-on — Set up and connect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Build-live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 tool = a typed function (Pydantic IO) the assistant can call — e.g. `get_user`.</a:t>
            </a:r>
          </a:p>
          <a:p>
            <a:r>
              <a:t>A resource = read-only reference the assistant can pull in — e.g. `agent_state_reference`.</a:t>
            </a:r>
          </a:p>
          <a:p>
            <a:r>
              <a:t>A prompt = a guided workflow with arguments — e.g. `diagnose_agent_cannot_go_available`.</a:t>
            </a:r>
          </a:p>
          <a:p>
            <a:r>
              <a:t>Together they round-trip: prompt asks, tool fetches, resource explains.</a:t>
            </a:r>
          </a:p>
          <a:p>
            <a:r>
              <a:t>→ src/wxcc_mcp/{tools,resources,prompts}/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Anatomy: tool + resource + prompt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1. Implement the atomic read tool `tool_get_user` (tools/get_user.py).</a:t>
            </a:r>
          </a:p>
          <a:p>
            <a:r>
              <a:t>2. Register the `agent_state_reference` resource (resources/agent_state_reference.py).</a:t>
            </a:r>
          </a:p>
          <a:p>
            <a:r>
              <a:t>3. Wire the `diagnose_agent_cannot_go_available` prompt (prompts/).</a:t>
            </a:r>
          </a:p>
          <a:p>
            <a:r>
              <a:t>4. Call the prompt from your client and watch the tool + resource round-trip.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· hands-on — Write your first primitives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Diagnose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 composite read tool that gathers user, team, queue, and skill-profile config.</a:t>
            </a:r>
          </a:p>
          <a:p>
            <a:r>
              <a:t>Returns ranked, evidence-backed blocking issues — not raw dumps.</a:t>
            </a:r>
          </a:p>
          <a:p>
            <a:r>
              <a:t>Answers “why can't this agent go available?” in one call.</a:t>
            </a:r>
          </a:p>
          <a:p>
            <a:r>
              <a:t>Demonstrates progress reporting and client logging along the way.</a:t>
            </a:r>
          </a:p>
          <a:p>
            <a:r>
              <a:t>→ src/wxcc_mcp/tools/validate_agent_routing.py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hero tool: validate_agent_routing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1. Instructor runs the `diagnose_agent_cannot_go_available` prompt for a broken agent.</a:t>
            </a:r>
          </a:p>
          <a:p>
            <a:r>
              <a:t>2. Watch `validate_agent_routing` collect evidence across config objects.</a:t>
            </a:r>
          </a:p>
          <a:p>
            <a:r>
              <a:t>3. Read the ranked blocking issues and the suggested remediation.</a:t>
            </a:r>
          </a:p>
          <a:p>
            <a:r>
              <a:t>4. Cross-reference the `troubleshooting-runbook` resource.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 · instructor-run — Run the diagnose 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Onboard / offboard + write-safety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When the client supports elicitation, the tool previews and asks the admin to approve.</a:t>
            </a:r>
          </a:p>
          <a:p>
            <a:r>
              <a:t>When it doesn't, the tool falls back to a dry-run and commits only with `confirm=True`.</a:t>
            </a:r>
          </a:p>
          <a:p>
            <a:r>
              <a:t>Nothing commits without explicit approval; tokens are never returned to the model.</a:t>
            </a:r>
          </a:p>
          <a:p>
            <a:r>
              <a:t>The onboard flow reports progress across create → assign team → assign skill → verify.</a:t>
            </a:r>
          </a:p>
          <a:p>
            <a:r>
              <a:t>→ wxcc://reference/write-safety-guide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write is gated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1. Run the `onboard_new_agent` prompt with an email + org.</a:t>
            </a:r>
          </a:p>
          <a:p>
            <a:r>
              <a:t>2. Approve the previewed write when elicitation prompts you.</a:t>
            </a:r>
          </a:p>
          <a:p>
            <a:r>
              <a:t>3. Watch progress stream across the create/assign/verify steps.</a:t>
            </a:r>
          </a:p>
          <a:p>
            <a:r>
              <a:t>4. Re-run offboard via the gated `manage_users` deactivate path.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· hands-on — Onboard an agent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Going further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Sampling: let the server ask the client's model to summarize a diagnosis (capability-gated).</a:t>
            </a:r>
          </a:p>
          <a:p>
            <a:r>
              <a:t>Debugging: set `WXCC_LOG_FILE` for structured JSON logs with secrets redacted.</a:t>
            </a:r>
          </a:p>
          <a:p>
            <a:r>
              <a:t>Go live: resolve every `# VERIFY` / `# TODO` against developer.webex.com.</a:t>
            </a:r>
          </a:p>
          <a:p>
            <a:r>
              <a:t>Extend the narrative: new tools slot into the same gated, typed, logged pattern.</a:t>
            </a:r>
          </a:p>
          <a:p>
            <a:r>
              <a:t>→ developer.webex.com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the lab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MCP: modelcontextprotocol.io</a:t>
            </a:r>
          </a:p>
          <a:p>
            <a:r>
              <a:t>WxCC APIs: developer.webex.com/docs/contact-center</a:t>
            </a:r>
          </a:p>
          <a:p>
            <a:r>
              <a:t>This lab's code + guide: wxcc-mcp-server/ and lab-materials/</a:t>
            </a:r>
          </a:p>
          <a:p>
            <a:r>
              <a:t>Write-safety policy: wxcc://reference/write-safety-guide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links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Share your experience — scan the QR for the post-session survey.  [QR 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exOne 2026 PowerPoint Light Template">
  <a:themeElements>
    <a:clrScheme name="Custom 28">
      <a:dk1>
        <a:srgbClr val="0A0A0A"/>
      </a:dk1>
      <a:lt1>
        <a:srgbClr val="FFFFFF"/>
      </a:lt1>
      <a:dk2>
        <a:srgbClr val="282828"/>
      </a:dk2>
      <a:lt2>
        <a:srgbClr val="B4B9C0"/>
      </a:lt2>
      <a:accent1>
        <a:srgbClr val="06A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6B6B6B"/>
      </a:hlink>
      <a:folHlink>
        <a:srgbClr val="282828"/>
      </a:folHlink>
    </a:clrScheme>
    <a:fontScheme name="Inter">
      <a:majorFont>
        <a:latin typeface="Inter Semi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ebexOne 2026 PowerPoint Light Template.potx" id="{50867DEA-FD50-4FDB-BFA5-F9657A707C61}" vid="{284EE5F9-B6B5-4615-8F97-E9BF46CD8C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3139f05-2a65-4fcf-a932-c2e4371cb372" xsi:nil="true"/>
    <lcf76f155ced4ddcb4097134ff3c332f xmlns="86a32b10-81ff-4a0f-8d3d-2adc436414f2">
      <Terms xmlns="http://schemas.microsoft.com/office/infopath/2007/PartnerControls"/>
    </lcf76f155ced4ddcb4097134ff3c332f>
    <Done xmlns="86a32b10-81ff-4a0f-8d3d-2adc436414f2">true</Don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2C28EF3FA65B49B2077972AEAE2A07" ma:contentTypeVersion="14" ma:contentTypeDescription="Create a new document." ma:contentTypeScope="" ma:versionID="9527ecbbb40c07acc53a29fb6f0d9a23">
  <xsd:schema xmlns:xsd="http://www.w3.org/2001/XMLSchema" xmlns:xs="http://www.w3.org/2001/XMLSchema" xmlns:p="http://schemas.microsoft.com/office/2006/metadata/properties" xmlns:ns2="86a32b10-81ff-4a0f-8d3d-2adc436414f2" xmlns:ns3="a3139f05-2a65-4fcf-a932-c2e4371cb372" targetNamespace="http://schemas.microsoft.com/office/2006/metadata/properties" ma:root="true" ma:fieldsID="dad5bdb63a3089e944de9a870a4c78cd" ns2:_="" ns3:_="">
    <xsd:import namespace="86a32b10-81ff-4a0f-8d3d-2adc436414f2"/>
    <xsd:import namespace="a3139f05-2a65-4fcf-a932-c2e4371cb3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D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a32b10-81ff-4a0f-8d3d-2adc43641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Done" ma:index="21" nillable="true" ma:displayName="Done" ma:default="1" ma:format="Dropdown" ma:internalName="Don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39f05-2a65-4fcf-a932-c2e4371cb37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ae55187-e50c-49b5-a322-8135a809e3a2}" ma:internalName="TaxCatchAll" ma:showField="CatchAllData" ma:web="a3139f05-2a65-4fcf-a932-c2e4371cb3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A7E153-DE13-44BB-9579-5F5838E74080}">
  <ds:schemaRefs>
    <ds:schemaRef ds:uri="http://schemas.microsoft.com/office/2006/metadata/properties"/>
    <ds:schemaRef ds:uri="e1d428bc-13f4-449c-9f48-a89f2c9cd5e6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a4217139-10e9-43ec-90fc-0a5606dbd6cd"/>
    <ds:schemaRef ds:uri="http://www.w3.org/XML/1998/namespace"/>
    <ds:schemaRef ds:uri="http://purl.org/dc/dcmitype/"/>
    <ds:schemaRef ds:uri="http://purl.org/dc/terms/"/>
    <ds:schemaRef ds:uri="a3139f05-2a65-4fcf-a932-c2e4371cb372"/>
    <ds:schemaRef ds:uri="86a32b10-81ff-4a0f-8d3d-2adc436414f2"/>
  </ds:schemaRefs>
</ds:datastoreItem>
</file>

<file path=customXml/itemProps2.xml><?xml version="1.0" encoding="utf-8"?>
<ds:datastoreItem xmlns:ds="http://schemas.openxmlformats.org/officeDocument/2006/customXml" ds:itemID="{D4FF658D-B6DA-4331-8045-D8421E6B85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8DC6FF-0376-4B72-9168-0DCEF23C72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a32b10-81ff-4a0f-8d3d-2adc436414f2"/>
    <ds:schemaRef ds:uri="a3139f05-2a65-4fcf-a932-c2e4371cb3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189e4fd-a2fa-47bf-9b21-17f706ee2968}" enabled="1" method="Privilege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WebexOne 2026 PowerPoint Light Template</Template>
  <TotalTime>1</TotalTime>
  <Words>3177</Words>
  <Application>Microsoft Macintosh PowerPoint</Application>
  <PresentationFormat>Widescreen</PresentationFormat>
  <Paragraphs>597</Paragraphs>
  <Slides>59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1" baseType="lpstr">
      <vt:lpstr>Inter Medium</vt:lpstr>
      <vt:lpstr>MS PGothic</vt:lpstr>
      <vt:lpstr>CiscoSansTT Light</vt:lpstr>
      <vt:lpstr>Inter Semi Bold</vt:lpstr>
      <vt:lpstr>CiscoSansTT ExtraLight</vt:lpstr>
      <vt:lpstr>Arial</vt:lpstr>
      <vt:lpstr>CiscoSansTT</vt:lpstr>
      <vt:lpstr>Inter Light</vt:lpstr>
      <vt:lpstr>Helvetica</vt:lpstr>
      <vt:lpstr>Inter</vt:lpstr>
      <vt:lpstr>Aptos</vt:lpstr>
      <vt:lpstr>WebexOne 2026 PowerPoint Light Template</vt:lpstr>
      <vt:lpstr>PowerPoint Presentation</vt:lpstr>
      <vt:lpstr>WebexOne 2026 light template</vt:lpstr>
      <vt:lpstr>Contents</vt:lpstr>
      <vt:lpstr>01 About the template</vt:lpstr>
      <vt:lpstr>How to use these slides</vt:lpstr>
      <vt:lpstr>WebexOne template overview and usage instructions</vt:lpstr>
      <vt:lpstr>Ensuring our brand is accessible for all</vt:lpstr>
      <vt:lpstr>Inter font family</vt:lpstr>
      <vt:lpstr>Installing our typeface</vt:lpstr>
      <vt:lpstr>Colors</vt:lpstr>
      <vt:lpstr>Only use the themes provided</vt:lpstr>
      <vt:lpstr>Elements</vt:lpstr>
      <vt:lpstr>Best practices for creating presentations</vt:lpstr>
      <vt:lpstr>Bullet points layout with subtitle</vt:lpstr>
      <vt:lpstr>02 Promo Slides</vt:lpstr>
      <vt:lpstr>PowerPoint Presentation</vt:lpstr>
      <vt:lpstr>PowerPoint Presentation</vt:lpstr>
      <vt:lpstr>PowerPoint Presentation</vt:lpstr>
      <vt:lpstr>03 Layout examples</vt:lpstr>
      <vt:lpstr>Presentation title placeholder with two speakers</vt:lpstr>
      <vt:lpstr>Presentation title placeholder with four speakers</vt:lpstr>
      <vt:lpstr>Presentation title placeholder with six speakers</vt:lpstr>
      <vt:lpstr>PowerPoint Presentation</vt:lpstr>
      <vt:lpstr>PowerPoint Presentation</vt:lpstr>
      <vt:lpstr>Fireside Chat Q&amp;A</vt:lpstr>
      <vt:lpstr>Agenda 1</vt:lpstr>
      <vt:lpstr>Agenda 2</vt:lpstr>
      <vt:lpstr>Container style</vt:lpstr>
      <vt:lpstr>Big statement slide lorem ipsum dolor sit amet.</vt:lpstr>
      <vt:lpstr>Customer quote slide Lorem ipsum dolor sit amet, consectetur do eiusmod tempor incididunt ut labore et dolore magna aliqua.” </vt:lpstr>
      <vt:lpstr>“Customer quote slide Lorem ipsum dolor sit amet, consectetur do eiusmod tempor incididunt ut labore et dolore magna aliqua.” </vt:lpstr>
      <vt:lpstr>Growth metrics</vt:lpstr>
      <vt:lpstr>Growth metrics</vt:lpstr>
      <vt:lpstr>Scaling with partners in 2H FY22</vt:lpstr>
      <vt:lpstr>Industry-leading,  end-to-end, unified collaboration platform</vt:lpstr>
      <vt:lpstr>Webex reach</vt:lpstr>
      <vt:lpstr>Webex events marketing drives 80-90% of new bookings from Inbound demand programs</vt:lpstr>
      <vt:lpstr>Cat 9k is up to 30% more efficient than  legacy switches and the competition </vt:lpstr>
      <vt:lpstr>Unified branch priorities</vt:lpstr>
      <vt:lpstr>PowerPoint Presentation</vt:lpstr>
      <vt:lpstr>PowerPoint Presentation</vt:lpstr>
      <vt:lpstr>WebexOne goes on the road to 20 global cities</vt:lpstr>
      <vt:lpstr>04 Section Slides</vt:lpstr>
      <vt:lpstr>04 Section Slides</vt:lpstr>
      <vt:lpstr>05 Resources</vt:lpstr>
      <vt:lpstr>Webex Brand Collection</vt:lpstr>
      <vt:lpstr>Marketing icons</vt:lpstr>
      <vt:lpstr>Mockup asset</vt:lpstr>
      <vt:lpstr>World map</vt:lpstr>
      <vt:lpstr>Africa and  Middle East</vt:lpstr>
      <vt:lpstr>Asia</vt:lpstr>
      <vt:lpstr>Europe</vt:lpstr>
      <vt:lpstr>Mexico and Latin America</vt:lpstr>
      <vt:lpstr>North America</vt:lpstr>
      <vt:lpstr>Russia</vt:lpstr>
      <vt:lpstr>South America</vt:lpstr>
      <vt:lpstr>Australia and  South Pacific</vt:lpstr>
      <vt:lpstr>USA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Russ LaFleur (rlafleur)</dc:creator>
  <cp:keywords/>
  <dc:description/>
  <cp:lastModifiedBy>Russ LaFleur (rlafleur)</cp:lastModifiedBy>
  <cp:revision>1</cp:revision>
  <dcterms:created xsi:type="dcterms:W3CDTF">2026-06-24T15:32:04Z</dcterms:created>
  <dcterms:modified xsi:type="dcterms:W3CDTF">2026-06-24T15:33:38Z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2025-05-12T19:46:53Z</vt:lpwstr>
  </property>
  <property fmtid="{D5CDD505-2E9C-101B-9397-08002B2CF9AE}" pid="4" name="MSIP_Label_c8f49a32-fde3-48a5-9266-b5b0972a22dc_Method">
    <vt:lpwstr>Privileged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2f9f8416-086e-4373-9089-7cbb07ba9e4f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10, 0, 1, 1</vt:lpwstr>
  </property>
  <property fmtid="{D5CDD505-2E9C-101B-9397-08002B2CF9AE}" pid="10" name="ClassificationContentMarkingFooterLocations">
    <vt:lpwstr>Cisco GSX Light 06-25-2025:8</vt:lpwstr>
  </property>
  <property fmtid="{D5CDD505-2E9C-101B-9397-08002B2CF9AE}" pid="11" name="ClassificationContentMarkingFooterText">
    <vt:lpwstr>-</vt:lpwstr>
  </property>
  <property fmtid="{D5CDD505-2E9C-101B-9397-08002B2CF9AE}" pid="12" name="ContentTypeId">
    <vt:lpwstr>0x010100AF2C28EF3FA65B49B2077972AEAE2A07</vt:lpwstr>
  </property>
  <property fmtid="{D5CDD505-2E9C-101B-9397-08002B2CF9AE}" pid="13" name="MediaServiceImageTags">
    <vt:lpwstr/>
  </property>
</Properties>
</file>